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61" r:id="rId4"/>
    <p:sldId id="258" r:id="rId5"/>
    <p:sldId id="259" r:id="rId6"/>
    <p:sldId id="264" r:id="rId7"/>
    <p:sldId id="265" r:id="rId8"/>
    <p:sldId id="262" r:id="rId9"/>
    <p:sldId id="260" r:id="rId10"/>
    <p:sldId id="263" r:id="rId11"/>
    <p:sldId id="257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38"/>
  </p:normalViewPr>
  <p:slideViewPr>
    <p:cSldViewPr snapToGrid="0" snapToObjects="1">
      <p:cViewPr varScale="1">
        <p:scale>
          <a:sx n="169" d="100"/>
          <a:sy n="169" d="100"/>
        </p:scale>
        <p:origin x="216" y="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8D3AC-AE0E-E34A-95A2-29C3F0C3303D}" type="datetimeFigureOut">
              <a:rPr lang="en-001" smtClean="0"/>
              <a:t>06/06/2026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9E0DB-BE02-8B44-97C1-0EB94687C9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868762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9E0DB-BE02-8B44-97C1-0EB94687C9D8}" type="slidenum">
              <a:rPr lang="en-001" smtClean="0"/>
              <a:t>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60361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9E0DB-BE02-8B44-97C1-0EB94687C9D8}" type="slidenum">
              <a:rPr lang="en-001" smtClean="0"/>
              <a:t>9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735198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9E0DB-BE02-8B44-97C1-0EB94687C9D8}" type="slidenum">
              <a:rPr lang="en-001" smtClean="0"/>
              <a:t>10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32376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08211" y="2259448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AT" sz="4800" b="1" dirty="0">
                <a:solidFill>
                  <a:schemeClr val="bg1"/>
                </a:solidFill>
                <a:latin typeface="Barlow Condensed"/>
              </a:rPr>
              <a:t>AI Service Desk Autopilot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62613" y="6578548"/>
            <a:ext cx="442621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AT" sz="800" b="1" i="0" dirty="0">
                <a:solidFill>
                  <a:srgbClr val="70789A"/>
                </a:solidFill>
                <a:latin typeface="Inter"/>
              </a:rPr>
              <a:t>07.06.0226</a:t>
            </a:r>
            <a:r>
              <a:rPr sz="800" b="1" i="0" dirty="0">
                <a:solidFill>
                  <a:srgbClr val="70789A"/>
                </a:solidFill>
                <a:latin typeface="Inter"/>
              </a:rPr>
              <a:t>  ·  </a:t>
            </a:r>
            <a:r>
              <a:rPr lang="de-AT" sz="800" b="1" dirty="0">
                <a:solidFill>
                  <a:srgbClr val="70789A"/>
                </a:solidFill>
                <a:latin typeface="Inter"/>
              </a:rPr>
              <a:t>Muhammad </a:t>
            </a:r>
            <a:r>
              <a:rPr lang="de-AT" sz="800" b="1" dirty="0" err="1">
                <a:solidFill>
                  <a:srgbClr val="70789A"/>
                </a:solidFill>
                <a:latin typeface="Inter"/>
              </a:rPr>
              <a:t>Banbhan</a:t>
            </a:r>
            <a:r>
              <a:rPr sz="800" b="1" i="0" dirty="0">
                <a:solidFill>
                  <a:srgbClr val="70789A"/>
                </a:solidFill>
                <a:latin typeface="Inter"/>
              </a:rPr>
              <a:t> </a:t>
            </a:r>
            <a:r>
              <a:rPr lang="de-AT" sz="800" b="1" i="0" dirty="0">
                <a:solidFill>
                  <a:srgbClr val="70789A"/>
                </a:solidFill>
                <a:latin typeface="Inter"/>
              </a:rPr>
              <a:t>, Mohammad Teimori, Julian Wollner</a:t>
            </a:r>
            <a:r>
              <a:rPr sz="800" b="1" i="0" dirty="0">
                <a:solidFill>
                  <a:srgbClr val="70789A"/>
                </a:solidFill>
                <a:latin typeface="Inter"/>
              </a:rPr>
              <a:t>·  </a:t>
            </a:r>
            <a:r>
              <a:rPr lang="de-AT" sz="800" b="1" i="0" dirty="0">
                <a:solidFill>
                  <a:srgbClr val="70789A"/>
                </a:solidFill>
                <a:latin typeface="Inter"/>
              </a:rPr>
              <a:t>Version: final-final-gut_2</a:t>
            </a:r>
            <a:endParaRPr sz="800" b="1" i="0" dirty="0">
              <a:solidFill>
                <a:srgbClr val="70789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90720" y="3198167"/>
            <a:ext cx="12073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AT" sz="2400" b="1" dirty="0" err="1">
                <a:solidFill>
                  <a:schemeClr val="bg1">
                    <a:lumMod val="50000"/>
                  </a:schemeClr>
                </a:solidFill>
                <a:latin typeface="Barlow Condensed"/>
              </a:rPr>
              <a:t>Techbold</a:t>
            </a:r>
            <a:endParaRPr sz="2400" b="1" i="0" dirty="0">
              <a:solidFill>
                <a:schemeClr val="bg1">
                  <a:lumMod val="50000"/>
                </a:schemeClr>
              </a:solidFill>
              <a:latin typeface="Barlow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03A1-6C49-42EA-4395-12C8C105C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A83A2D-E694-CE3F-05F2-6620877E6F3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F849B1-7CBD-0C3F-3E32-8194E9433907}"/>
              </a:ext>
            </a:extLst>
          </p:cNvPr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5D1DA-CCF9-DECF-9DD5-6B1D1FE60CB3}"/>
              </a:ext>
            </a:extLst>
          </p:cNvPr>
          <p:cNvSpPr txBox="1"/>
          <p:nvPr/>
        </p:nvSpPr>
        <p:spPr>
          <a:xfrm>
            <a:off x="137160" y="2560320"/>
            <a:ext cx="822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CB514"/>
                </a:solidFill>
                <a:latin typeface="Barlow Condensed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970151-638F-B02C-9D20-B9188728646C}"/>
              </a:ext>
            </a:extLst>
          </p:cNvPr>
          <p:cNvSpPr txBox="1"/>
          <p:nvPr/>
        </p:nvSpPr>
        <p:spPr>
          <a:xfrm>
            <a:off x="1463040" y="2194560"/>
            <a:ext cx="82296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de-AT" sz="5200" b="1" i="0" dirty="0">
                <a:solidFill>
                  <a:srgbClr val="262B4B"/>
                </a:solidFill>
                <a:latin typeface="Barlow Condensed"/>
              </a:rPr>
              <a:t>Motivation</a:t>
            </a:r>
            <a:endParaRPr sz="5200" b="1" i="0" dirty="0">
              <a:solidFill>
                <a:srgbClr val="262B4B"/>
              </a:solidFill>
              <a:latin typeface="Barlow Condense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2B1D40-2F7D-2039-9532-C155F74981BD}"/>
              </a:ext>
            </a:extLst>
          </p:cNvPr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06949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Barlow Condensed"/>
              </a:rPr>
              <a:t>Key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514344" cy="4114800"/>
          </a:xfrm>
          <a:prstGeom prst="rect">
            <a:avLst/>
          </a:prstGeom>
          <a:solidFill>
            <a:srgbClr val="37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14344" cy="50292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965704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CB514"/>
                </a:solidFill>
                <a:latin typeface="Barlow Condensed"/>
              </a:rPr>
              <a:t>170+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9657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CF42"/>
                </a:solidFill>
                <a:latin typeface="Inter"/>
              </a:rPr>
              <a:t>IT SPECIALISTS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29657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D4"/>
                </a:solidFill>
                <a:latin typeface="Inter"/>
              </a:rPr>
              <a:t>Dedicated technicians
across all service areas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7304" y="1280160"/>
            <a:ext cx="3514344" cy="4114800"/>
          </a:xfrm>
          <a:prstGeom prst="rect">
            <a:avLst/>
          </a:prstGeom>
          <a:solidFill>
            <a:srgbClr val="37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7304" y="1280160"/>
            <a:ext cx="3514344" cy="50292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1624" y="1645920"/>
            <a:ext cx="2965704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CB514"/>
                </a:solidFill>
                <a:latin typeface="Barlow Condensed"/>
              </a:rPr>
              <a:t>1,200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1624" y="2971800"/>
            <a:ext cx="29657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CF42"/>
                </a:solidFill>
                <a:latin typeface="Inter"/>
              </a:rPr>
              <a:t>CUSTOMERS SERVED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1624" y="3520440"/>
            <a:ext cx="29657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D4"/>
                </a:solidFill>
                <a:latin typeface="Inter"/>
              </a:rPr>
              <a:t>Spanning 27 industries
and counting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5968" y="1280160"/>
            <a:ext cx="3514344" cy="4114800"/>
          </a:xfrm>
          <a:prstGeom prst="rect">
            <a:avLst/>
          </a:prstGeom>
          <a:solidFill>
            <a:srgbClr val="37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5968" y="1280160"/>
            <a:ext cx="3514344" cy="50292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00288" y="1645920"/>
            <a:ext cx="2965704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CB514"/>
                </a:solidFill>
                <a:latin typeface="Barlow Condensed"/>
              </a:rPr>
              <a:t>4.68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0288" y="2971800"/>
            <a:ext cx="29657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CF42"/>
                </a:solidFill>
                <a:latin typeface="Inter"/>
              </a:rPr>
              <a:t>SATISFACTION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0288" y="3520440"/>
            <a:ext cx="29657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D4"/>
                </a:solidFill>
                <a:latin typeface="Inter"/>
              </a:rPr>
              <a:t>Based on last 12 months
of service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822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CB514"/>
                </a:solidFill>
                <a:latin typeface="Barlow Condense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94560"/>
            <a:ext cx="82296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de-AT" sz="5200" b="1" i="0" dirty="0">
                <a:solidFill>
                  <a:srgbClr val="262B4B"/>
                </a:solidFill>
                <a:latin typeface="Barlow Condensed"/>
              </a:rPr>
              <a:t>Architecture</a:t>
            </a:r>
            <a:endParaRPr sz="5200" b="1" i="0" dirty="0">
              <a:solidFill>
                <a:srgbClr val="262B4B"/>
              </a:solidFill>
              <a:latin typeface="Barlow Condense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20553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AT" sz="3200" b="1" dirty="0">
                <a:solidFill>
                  <a:schemeClr val="bg1"/>
                </a:solidFill>
                <a:latin typeface="Barlow Condensed"/>
              </a:rPr>
              <a:t>Architecture</a:t>
            </a:r>
            <a:endParaRPr sz="3000" b="1" i="0" dirty="0">
              <a:solidFill>
                <a:schemeClr val="bg1"/>
              </a:solidFill>
              <a:latin typeface="Barlow Condense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45752" y="34747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0789A"/>
                </a:solidFill>
                <a:latin typeface="Inter"/>
              </a:rPr>
              <a:t>SECTION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Inter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620E3-3611-3D90-10A2-813149A2D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17AF51-C72C-B69B-A18B-EFC367305CA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81A711-22B4-6671-453A-40BF6A6273FC}"/>
              </a:ext>
            </a:extLst>
          </p:cNvPr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9FB6-3640-409C-1B19-916CED8E27F9}"/>
              </a:ext>
            </a:extLst>
          </p:cNvPr>
          <p:cNvSpPr txBox="1"/>
          <p:nvPr/>
        </p:nvSpPr>
        <p:spPr>
          <a:xfrm>
            <a:off x="137160" y="2560320"/>
            <a:ext cx="822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CB514"/>
                </a:solidFill>
                <a:latin typeface="Barlow Condensed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73162-445F-AC6C-B700-3EB4B5BBD2B9}"/>
              </a:ext>
            </a:extLst>
          </p:cNvPr>
          <p:cNvSpPr txBox="1"/>
          <p:nvPr/>
        </p:nvSpPr>
        <p:spPr>
          <a:xfrm>
            <a:off x="1463040" y="2194560"/>
            <a:ext cx="82296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de-AT" sz="5200" b="1" i="0" dirty="0">
                <a:solidFill>
                  <a:srgbClr val="262B4B"/>
                </a:solidFill>
                <a:latin typeface="Barlow Condensed"/>
              </a:rPr>
              <a:t>Demonstration</a:t>
            </a:r>
            <a:endParaRPr sz="5200" b="1" i="0" dirty="0">
              <a:solidFill>
                <a:srgbClr val="262B4B"/>
              </a:solidFill>
              <a:latin typeface="Barlow Condense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B8D153-56AA-7F06-A12C-BB76495775A6}"/>
              </a:ext>
            </a:extLst>
          </p:cNvPr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2920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88908-9930-57BD-9E7D-7B22D37C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2BE80B-B1AB-326E-FB04-9E908D4FD2C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543FE-4A76-77D0-4633-52FBDC50744D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479A94-98EA-D6DA-29BB-A52FB8DC5EC6}"/>
              </a:ext>
            </a:extLst>
          </p:cNvPr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74D1C-753D-D9A9-42C6-54825625165F}"/>
              </a:ext>
            </a:extLst>
          </p:cNvPr>
          <p:cNvSpPr txBox="1"/>
          <p:nvPr/>
        </p:nvSpPr>
        <p:spPr>
          <a:xfrm>
            <a:off x="548640" y="164592"/>
            <a:ext cx="23759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AT" sz="3200" b="1" dirty="0">
                <a:solidFill>
                  <a:schemeClr val="bg1"/>
                </a:solidFill>
                <a:latin typeface="Barlow Condensed"/>
              </a:rPr>
              <a:t>Demonstration</a:t>
            </a:r>
            <a:endParaRPr sz="3000" b="1" i="0" dirty="0">
              <a:solidFill>
                <a:schemeClr val="bg1"/>
              </a:solidFill>
              <a:latin typeface="Barlow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7EFC5-9B83-4A82-E325-215ADCB1A9C6}"/>
              </a:ext>
            </a:extLst>
          </p:cNvPr>
          <p:cNvSpPr txBox="1"/>
          <p:nvPr/>
        </p:nvSpPr>
        <p:spPr>
          <a:xfrm>
            <a:off x="9445752" y="34747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0789A"/>
                </a:solidFill>
                <a:latin typeface="Inter"/>
              </a:rPr>
              <a:t>SECTION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42A26-9CF4-782C-1D0A-FBA1296E3997}"/>
              </a:ext>
            </a:extLst>
          </p:cNvPr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In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0208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6474F-7F1A-6D17-EBEA-AF676817878A}"/>
              </a:ext>
            </a:extLst>
          </p:cNvPr>
          <p:cNvSpPr txBox="1"/>
          <p:nvPr/>
        </p:nvSpPr>
        <p:spPr>
          <a:xfrm>
            <a:off x="2404745" y="1950343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 i="0" dirty="0">
                <a:solidFill>
                  <a:srgbClr val="FCB514"/>
                </a:solidFill>
                <a:latin typeface="Barlow Condensed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12122-B4ED-1BB5-B134-16039D3E4F63}"/>
              </a:ext>
            </a:extLst>
          </p:cNvPr>
          <p:cNvSpPr txBox="1"/>
          <p:nvPr/>
        </p:nvSpPr>
        <p:spPr>
          <a:xfrm>
            <a:off x="2587625" y="2864743"/>
            <a:ext cx="960120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en-US" sz="4000" b="1" dirty="0">
                <a:solidFill>
                  <a:srgbClr val="FFFFFF"/>
                </a:solidFill>
                <a:latin typeface="Barlow Condensed"/>
              </a:rPr>
              <a:t>Going the extra mile is our standard.</a:t>
            </a:r>
          </a:p>
          <a:p>
            <a:pPr>
              <a:spcAft>
                <a:spcPts val="1600"/>
              </a:spcAft>
            </a:pPr>
            <a:r>
              <a:rPr sz="1400" b="0" i="0" dirty="0">
                <a:solidFill>
                  <a:srgbClr val="9098B8"/>
                </a:solidFill>
                <a:latin typeface="Inter"/>
              </a:rPr>
              <a:t>— </a:t>
            </a:r>
            <a:r>
              <a:rPr sz="1400" b="0" i="0" dirty="0" err="1">
                <a:solidFill>
                  <a:srgbClr val="9098B8"/>
                </a:solidFill>
                <a:latin typeface="Inter"/>
              </a:rPr>
              <a:t>techbold</a:t>
            </a:r>
            <a:endParaRPr sz="1400" b="0" i="0" dirty="0">
              <a:solidFill>
                <a:srgbClr val="9098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64179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AT" sz="3000" b="1" i="0" dirty="0">
                <a:solidFill>
                  <a:srgbClr val="FFFFFF"/>
                </a:solidFill>
                <a:latin typeface="Barlow Condensed"/>
              </a:rPr>
              <a:t>Motivation</a:t>
            </a:r>
            <a:endParaRPr sz="3000" b="1" i="0" dirty="0">
              <a:solidFill>
                <a:srgbClr val="FFFFFF"/>
              </a:solidFill>
              <a:latin typeface="Barlow Condense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31536" cy="534924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431536" cy="50292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882896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 i="0" dirty="0">
                <a:solidFill>
                  <a:srgbClr val="FCB514"/>
                </a:solidFill>
                <a:latin typeface="Barlow Condensed"/>
              </a:rPr>
              <a:t>Key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FFFFFF"/>
                </a:solidFill>
                <a:latin typeface="Inter"/>
              </a:rPr>
              <a:t>Supporting text or metric. Keep it short and impactful. Use this column for the key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776" y="1463040"/>
            <a:ext cx="5431536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62B4B"/>
                </a:solidFill>
                <a:latin typeface="Inter"/>
              </a:rPr>
              <a:t>Detail heading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373652"/>
                </a:solidFill>
                <a:latin typeface="Inter"/>
              </a:rPr>
              <a:t>• Supporting detail one that elaborates on the key point.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373652"/>
                </a:solidFill>
                <a:latin typeface="Inter"/>
              </a:rPr>
              <a:t>• Supporting detail two with additional context or data.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373652"/>
                </a:solidFill>
                <a:latin typeface="Inter"/>
              </a:rPr>
              <a:t>• Supporting detail three closing the argument.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Barlow Condensed"/>
              </a:rPr>
              <a:t>techbold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749039"/>
            <a:ext cx="5029200" cy="64008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9098B8"/>
                </a:solidFill>
                <a:latin typeface="Inter"/>
              </a:rPr>
              <a:t>die Extrameile ist unser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B0B8D4"/>
                </a:solidFill>
                <a:latin typeface="Inter"/>
              </a:rPr>
              <a:t>www.techbold.at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0B8D4"/>
                </a:solidFill>
                <a:latin typeface="Inter"/>
              </a:rPr>
              <a:t>+43 59 555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6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FCB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AGENDA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9098B8"/>
                </a:solidFill>
                <a:latin typeface="Inter"/>
              </a:rPr>
              <a:t>Today's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005840"/>
            <a:ext cx="731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CB514"/>
                </a:solidFill>
                <a:latin typeface="Barlow Condense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99" y="1078992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373652"/>
                </a:solidFill>
                <a:latin typeface="Inter"/>
              </a:rPr>
              <a:t>Introduction &amp;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755648"/>
            <a:ext cx="7863840" cy="9525"/>
          </a:xfrm>
          <a:prstGeom prst="rect">
            <a:avLst/>
          </a:prstGeom>
          <a:solidFill>
            <a:srgbClr val="E5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1920240"/>
            <a:ext cx="731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CB514"/>
                </a:solidFill>
                <a:latin typeface="Barlow Condense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1993392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62B4B"/>
                </a:solidFill>
                <a:latin typeface="Inter"/>
              </a:rPr>
              <a:t>Current State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670048"/>
            <a:ext cx="7863840" cy="9525"/>
          </a:xfrm>
          <a:prstGeom prst="rect">
            <a:avLst/>
          </a:prstGeom>
          <a:solidFill>
            <a:srgbClr val="E5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2834640"/>
            <a:ext cx="731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CB514"/>
                </a:solidFill>
                <a:latin typeface="Barlow Condense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907792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62B4B"/>
                </a:solidFill>
                <a:latin typeface="Inter"/>
              </a:rPr>
              <a:t>Proposed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3584448"/>
            <a:ext cx="7863840" cy="9525"/>
          </a:xfrm>
          <a:prstGeom prst="rect">
            <a:avLst/>
          </a:prstGeom>
          <a:solidFill>
            <a:srgbClr val="E5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39" y="3749040"/>
            <a:ext cx="731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CB514"/>
                </a:solidFill>
                <a:latin typeface="Barlow Condense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822192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62B4B"/>
                </a:solidFill>
                <a:latin typeface="Inter"/>
              </a:rPr>
              <a:t>Implementation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4498848"/>
            <a:ext cx="7863840" cy="9525"/>
          </a:xfrm>
          <a:prstGeom prst="rect">
            <a:avLst/>
          </a:prstGeom>
          <a:solidFill>
            <a:srgbClr val="E5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39" y="4663440"/>
            <a:ext cx="731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CB514"/>
                </a:solidFill>
                <a:latin typeface="Barlow Condense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4736592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62B4B"/>
                </a:solidFill>
                <a:latin typeface="Inter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175</Words>
  <Application>Microsoft Macintosh PowerPoint</Application>
  <PresentationFormat>Custom</PresentationFormat>
  <Paragraphs>55</Paragraphs>
  <Slides>11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Barlow Condensed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Julian Wollner</cp:lastModifiedBy>
  <cp:revision>8</cp:revision>
  <dcterms:created xsi:type="dcterms:W3CDTF">2013-01-27T09:14:16Z</dcterms:created>
  <dcterms:modified xsi:type="dcterms:W3CDTF">2026-06-06T18:33:26Z</dcterms:modified>
  <cp:category/>
</cp:coreProperties>
</file>